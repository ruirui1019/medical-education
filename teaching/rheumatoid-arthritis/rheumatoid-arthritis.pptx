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1｜类风湿关节炎</a:t>
            </a:r>
          </a:p>
          <a:p/>
          <a:p>
            <a:r>
              <a:t>PPT展示：</a:t>
            </a:r>
          </a:p>
          <a:p/>
          <a:p>
            <a:r>
              <a:t>**类风湿关节炎（Rheumatoid Arthritis，RA）**</a:t>
            </a:r>
          </a:p>
          <a:p/>
          <a:p>
            <a:r>
              <a:t>关键词：慢性炎症性关节炎、滑膜炎、自身免疫、关节破坏、早期治疗。</a:t>
            </a:r>
          </a:p>
          <a:p/>
          <a:p>
            <a:r>
              <a:t>教师开场：</a:t>
            </a:r>
          </a:p>
          <a:p/>
          <a:p>
            <a:r>
              <a:t>“同学们，今天我们学习一种在风湿免疫科非常重要的疾病——类风湿关节炎。很多人认为类风湿关节炎就是关节疼痛，但实际上，它是一种以滑膜炎为主要表现、可能累及多个器官和系统的慢性自身免疫性疾病。</a:t>
            </a:r>
          </a:p>
          <a:p/>
          <a:p>
            <a:r>
              <a:t>今天我们围绕一个临床病例，重点解决三个问题：怎样识别RA？怎样诊断RA？怎样治疗RA？”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2｜病例导入：一位手指肿痛的患者</a:t>
            </a:r>
          </a:p>
          <a:p/>
          <a:p>
            <a:r>
              <a:t>**病例（教学模拟，不是真实患者资料）**</a:t>
            </a:r>
          </a:p>
          <a:p/>
          <a:p>
            <a:r>
              <a:t>女性，48岁，因“双手及双腕关节反复肿痛3个月”就诊。</a:t>
            </a:r>
          </a:p>
          <a:p/>
          <a:p>
            <a:r>
              <a:t>现病史：</a:t>
            </a:r>
          </a:p>
          <a:p/>
          <a:p>
            <a:r>
              <a:t>- 双手掌指关节、近端指间关节及双腕关节疼痛。</a:t>
            </a:r>
          </a:p>
          <a:p>
            <a:r>
              <a:t>- 双侧关节症状基本对称。</a:t>
            </a:r>
          </a:p>
          <a:p>
            <a:r>
              <a:t>- 每天晨起双手僵硬，约90分钟后逐渐缓解。</a:t>
            </a:r>
          </a:p>
          <a:p>
            <a:r>
              <a:t>- 活动后僵硬减轻，但仍有疼痛。</a:t>
            </a:r>
          </a:p>
          <a:p>
            <a:r>
              <a:t>- 最近一个月握拳困难，拧毛巾费力。</a:t>
            </a:r>
          </a:p>
          <a:p/>
          <a:p>
            <a:r>
              <a:t>体格检查：双腕、双侧第2掌指关节和第3近端指间关节肿胀、压痛，共6个小关节受累。</a:t>
            </a:r>
          </a:p>
          <a:p/>
          <a:p>
            <a:r>
              <a:t>课堂提问：</a:t>
            </a:r>
          </a:p>
          <a:p/>
          <a:p>
            <a:r>
              <a:t>1. 这位患者属于炎性关节痛还是机械性关节痛？</a:t>
            </a:r>
          </a:p>
          <a:p>
            <a:r>
              <a:t>2. 哪些症状提示可能存在RA？</a:t>
            </a:r>
          </a:p>
          <a:p>
            <a:r>
              <a:t>3. 下一步需要安排哪些检查？</a:t>
            </a:r>
          </a:p>
          <a:p/>
          <a:p>
            <a:r>
              <a:t>教师讲解：</a:t>
            </a:r>
          </a:p>
          <a:p/>
          <a:p>
            <a:r>
              <a:t>“首先观察关节受累的部位、分布和疼痛特点。这个病例有对称性小关节肿痛、晨僵时间长、病程超过6周三个重要线索。它们提示炎性关节炎，并高度怀疑RA，但目前还不能仅凭症状确诊。我们先保留这个病例，学习完后再做判断。”</a:t>
            </a:r>
          </a:p>
          <a:p/>
          <a:p>
            <a:r>
              <a:t>---</a:t>
            </a:r>
          </a:p>
          <a:p/>
          <a:p>
            <a:r>
              <a:t>## 第二部分：概述、病因、发病机制与病理（17分钟）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3｜RA的概念与流行病学</a:t>
            </a:r>
          </a:p>
          <a:p/>
          <a:p>
            <a:r>
              <a:t>PPT展示：</a:t>
            </a:r>
          </a:p>
          <a:p/>
          <a:p>
            <a:r>
              <a:t>**定义：** 类风湿关节炎是一种慢性、全身性自身免疫性疾病，以侵蚀性、对称性多关节炎为主要临床表现。</a:t>
            </a:r>
          </a:p>
          <a:p/>
          <a:p>
            <a:r>
              <a:t>主要特点：</a:t>
            </a:r>
          </a:p>
          <a:p/>
          <a:p>
            <a:r>
              <a:t>- 慢性、反复发作或持续进展。</a:t>
            </a:r>
          </a:p>
          <a:p>
            <a:r>
              <a:t>- 以关节滑膜炎为主要病理基础。</a:t>
            </a:r>
          </a:p>
          <a:p>
            <a:r>
              <a:t>- 可发生软骨破坏和骨侵蚀。</a:t>
            </a:r>
          </a:p>
          <a:p>
            <a:r>
              <a:t>- 可累及肺、心血管、血液等关节外器官及系统。</a:t>
            </a:r>
          </a:p>
          <a:p>
            <a:r>
              <a:t>- 不及时治疗可能出现关节畸形和功能障碍。</a:t>
            </a:r>
          </a:p>
          <a:p/>
          <a:p>
            <a:r>
              <a:t>教材流行病学知识：</a:t>
            </a:r>
          </a:p>
          <a:p/>
          <a:p>
            <a:r>
              <a:t>- 女性多见，女性发病约为男性的2～3倍。</a:t>
            </a:r>
          </a:p>
          <a:p>
            <a:r>
              <a:t>- 可发生于各年龄段，以35～50岁较常见。</a:t>
            </a:r>
          </a:p>
          <a:p>
            <a:r>
              <a:t>- 教材记载我国RA总患病率约0.42%。</a:t>
            </a:r>
          </a:p>
          <a:p/>
          <a:p>
            <a:r>
              <a:t>教师讲解：</a:t>
            </a:r>
          </a:p>
          <a:p/>
          <a:p>
            <a:r>
              <a:t>“RA和骨关节炎不是同一种疾病。RA以自身免疫介导的滑膜炎为主要特点，骨关节炎则涉及整个关节的退变与低度炎症等过程。RA不仅会引起疼痛，还可能造成不可逆的关节结构破坏。因此，临床治疗的目标不能只停留在缓解疼痛上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4｜RA的病因</a:t>
            </a:r>
          </a:p>
          <a:p/>
          <a:p>
            <a:r>
              <a:t>PPT展示：</a:t>
            </a:r>
          </a:p>
          <a:p/>
          <a:p>
            <a:r>
              <a:t>目前RA的确切病因尚未完全明确，认为与以下因素有关：</a:t>
            </a:r>
          </a:p>
          <a:p/>
          <a:p>
            <a:r>
              <a:t>1. 遗传因素：HLA-DRB1等遗传易感性。</a:t>
            </a:r>
          </a:p>
          <a:p>
            <a:r>
              <a:t>2. 环境因素：吸烟、感染相关因素及其他环境暴露。</a:t>
            </a:r>
          </a:p>
          <a:p>
            <a:r>
              <a:t>3. 免疫紊乱：T细胞、B细胞等免疫细胞异常活化。</a:t>
            </a:r>
          </a:p>
          <a:p>
            <a:r>
              <a:t>4. 多种因素共同作用：遗传易感基础上发生异常免疫反应。</a:t>
            </a:r>
          </a:p>
          <a:p/>
          <a:p>
            <a:r>
              <a:t>教师讲解：</a:t>
            </a:r>
          </a:p>
          <a:p/>
          <a:p>
            <a:r>
              <a:t>“为什么有些人患RA，而另一些人不患病？目前认为它不是某一个单独因素导致的。遗传因素决定一部分易感性，而环境因素可能参与疾病发生。需要强调，有遗传易感性并不意味着一定会患病，RA也不是简单的遗传病。”</a:t>
            </a:r>
          </a:p>
          <a:p/>
          <a:p>
            <a:r>
              <a:t>课堂提问：“RA是不是由某一种细菌直接感染引起的？”</a:t>
            </a:r>
          </a:p>
          <a:p/>
          <a:p>
            <a:r>
              <a:t>答案：不是。目前不能将RA归因于某一种确定的致病菌。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5｜RA的免疫发病机制</a:t>
            </a:r>
          </a:p>
          <a:p/>
          <a:p>
            <a:r>
              <a:t>PPT核心流程：</a:t>
            </a:r>
          </a:p>
          <a:p/>
          <a:p>
            <a:r>
              <a:t>遗传易感性＋环境因素</a:t>
            </a:r>
          </a:p>
          <a:p/>
          <a:p>
            <a:r>
              <a:t>↓</a:t>
            </a:r>
          </a:p>
          <a:p/>
          <a:p>
            <a:r>
              <a:t>免疫耐受异常及自身免疫反应</a:t>
            </a:r>
          </a:p>
          <a:p/>
          <a:p>
            <a:r>
              <a:t>↓</a:t>
            </a:r>
          </a:p>
          <a:p/>
          <a:p>
            <a:r>
              <a:t>CD4⁺ T细胞、B细胞、巨噬细胞等异常活化</a:t>
            </a:r>
          </a:p>
          <a:p/>
          <a:p>
            <a:r>
              <a:t>↓</a:t>
            </a:r>
          </a:p>
          <a:p/>
          <a:p>
            <a:r>
              <a:t>自身抗体形成及炎症介质释放</a:t>
            </a:r>
          </a:p>
          <a:p/>
          <a:p>
            <a:r>
              <a:t>↓</a:t>
            </a:r>
          </a:p>
          <a:p/>
          <a:p>
            <a:r>
              <a:t>TNF-α、IL-6、IL-1等参与炎症反应</a:t>
            </a:r>
          </a:p>
          <a:p/>
          <a:p>
            <a:r>
              <a:t>↓</a:t>
            </a:r>
          </a:p>
          <a:p/>
          <a:p>
            <a:r>
              <a:t>持续性滑膜炎</a:t>
            </a:r>
          </a:p>
          <a:p/>
          <a:p>
            <a:r>
              <a:t>↓</a:t>
            </a:r>
          </a:p>
          <a:p/>
          <a:p>
            <a:r>
              <a:t>血管翳形成、软骨破坏、骨侵蚀</a:t>
            </a:r>
          </a:p>
          <a:p/>
          <a:p>
            <a:r>
              <a:t>↓</a:t>
            </a:r>
          </a:p>
          <a:p/>
          <a:p>
            <a:r>
              <a:t>关节畸形与功能障碍</a:t>
            </a:r>
          </a:p>
          <a:p/>
          <a:p>
            <a:r>
              <a:t>教师讲解：</a:t>
            </a:r>
          </a:p>
          <a:p/>
          <a:p>
            <a:r>
              <a:t>“大家理解这个过程时，要抓住三个关键环节。</a:t>
            </a:r>
          </a:p>
          <a:p/>
          <a:p>
            <a:r>
              <a:t>第一个环节是免疫系统异常活化，机体出现针对自身成分的异常免疫应答。</a:t>
            </a:r>
          </a:p>
          <a:p/>
          <a:p>
            <a:r>
              <a:t>第二个环节是炎症细胞和细胞因子的参与。TNF-α、IL-6等炎症因子在RA持续性炎症中发挥重要作用。</a:t>
            </a:r>
          </a:p>
          <a:p/>
          <a:p>
            <a:r>
              <a:t>第三个环节是结构破坏。持续炎症使滑膜组织异常增生，形成具有侵袭性的血管翳，进一步破坏关节软骨和骨组织。</a:t>
            </a:r>
          </a:p>
          <a:p/>
          <a:p>
            <a:r>
              <a:t>这也解释了为什么RA可以采用针对特定细胞因子或免疫通路的靶向治疗。”</a:t>
            </a:r>
          </a:p>
          <a:p/>
          <a:p>
            <a:r>
              <a:t>板书关键词：**免疫异常—滑膜炎—血管翳—骨侵蚀。**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6｜RA的主要病理改变</a:t>
            </a:r>
          </a:p>
          <a:p/>
          <a:p>
            <a:r>
              <a:t>PPT展示：</a:t>
            </a:r>
          </a:p>
          <a:p/>
          <a:p>
            <a:r>
              <a:t>**核心病理：慢性增生性滑膜炎。**</a:t>
            </a:r>
          </a:p>
          <a:p/>
          <a:p>
            <a:r>
              <a:t>主要病理变化：</a:t>
            </a:r>
          </a:p>
          <a:p/>
          <a:p>
            <a:r>
              <a:t>- 滑膜细胞增生，滑膜组织增厚。</a:t>
            </a:r>
          </a:p>
          <a:p>
            <a:r>
              <a:t>- 炎症细胞浸润。</a:t>
            </a:r>
          </a:p>
          <a:p>
            <a:r>
              <a:t>- 新生血管形成。</a:t>
            </a:r>
          </a:p>
          <a:p>
            <a:r>
              <a:t>- 血管翳形成。</a:t>
            </a:r>
          </a:p>
          <a:p>
            <a:r>
              <a:t>- 关节软骨及骨组织遭到侵蚀。</a:t>
            </a:r>
          </a:p>
          <a:p/>
          <a:p>
            <a:r>
              <a:t>教师讲解：</a:t>
            </a:r>
          </a:p>
          <a:p/>
          <a:p>
            <a:r>
              <a:t>“RA最有代表性的病理改变是滑膜炎。正常情况下，滑膜较薄；发生RA后，滑膜组织增生，炎症细胞浸润，并形成血管翳。</a:t>
            </a:r>
          </a:p>
          <a:p/>
          <a:p>
            <a:r>
              <a:t>可以把血管翳理解为一种具有侵袭性的增生性炎症组织，它能够参与关节软骨和骨组织的破坏。</a:t>
            </a:r>
          </a:p>
          <a:p/>
          <a:p>
            <a:r>
              <a:t>在早期，患者可能主要表现为疼痛和肿胀；到了晚期，则可能出现明显的骨侵蚀、关节畸形和功能丧失。”</a:t>
            </a:r>
          </a:p>
          <a:p/>
          <a:p>
            <a:r>
              <a:t>**这一页建议配正常关节、滑膜炎关节和骨侵蚀关节的对比示意图。**</a:t>
            </a:r>
          </a:p>
          <a:p/>
          <a:p>
            <a:r>
              <a:t>---</a:t>
            </a:r>
          </a:p>
          <a:p/>
          <a:p>
            <a:r>
              <a:t>## 第三部分：临床表现（20分钟）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7｜RA的起病特点</a:t>
            </a:r>
          </a:p>
          <a:p/>
          <a:p>
            <a:r>
              <a:t>PPT展示：</a:t>
            </a:r>
          </a:p>
          <a:p/>
          <a:p>
            <a:r>
              <a:t>- 多数患者起病隐匿。</a:t>
            </a:r>
          </a:p>
          <a:p>
            <a:r>
              <a:t>- 可有乏力、低热、食欲减退等全身症状。</a:t>
            </a:r>
          </a:p>
          <a:p>
            <a:r>
              <a:t>- 关节症状常逐渐出现。</a:t>
            </a:r>
          </a:p>
          <a:p>
            <a:r>
              <a:t>- 主要累及腕关节、掌指关节及近端指间关节。</a:t>
            </a:r>
          </a:p>
          <a:p>
            <a:r>
              <a:t>- 可由少数关节发展为多关节受累。</a:t>
            </a:r>
          </a:p>
          <a:p/>
          <a:p>
            <a:r>
              <a:t>教师讲解：</a:t>
            </a:r>
          </a:p>
          <a:p/>
          <a:p>
            <a:r>
              <a:t>“RA患者不一定一开始就出现典型的双手多关节炎。有些患者先出现单关节或少关节症状，随后逐渐发展。因此，对持续存在的关节肿胀，应当结合病程进行动态评估。”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8｜关节表现：RA最重要的临床特征</a:t>
            </a:r>
          </a:p>
          <a:p/>
          <a:p>
            <a:r>
              <a:t>PPT展示：</a:t>
            </a:r>
          </a:p>
          <a:p/>
          <a:p>
            <a:r>
              <a:t>**1. 晨僵**</a:t>
            </a:r>
          </a:p>
          <a:p/>
          <a:p>
            <a:r>
              <a:t>晨起关节僵硬、活动不灵活，活动后逐渐缓解。RA患者晨僵常持续30分钟以上，部分患者可超过1小时。</a:t>
            </a:r>
          </a:p>
          <a:p/>
          <a:p>
            <a:r>
              <a:t>**2. 关节肿痛**</a:t>
            </a:r>
          </a:p>
          <a:p/>
          <a:p>
            <a:r>
              <a:t>受累关节出现肿胀、压痛、疼痛及活动障碍，多呈对称性。</a:t>
            </a:r>
          </a:p>
          <a:p/>
          <a:p>
            <a:r>
              <a:t>**3. 关节受累部位**</a:t>
            </a:r>
          </a:p>
          <a:p/>
          <a:p>
            <a:r>
              <a:t>常见腕关节、掌指关节、近端指间关节，也可累及跖趾、膝、踝、肩等关节。</a:t>
            </a:r>
          </a:p>
          <a:p/>
          <a:p>
            <a:r>
              <a:t>**4. 关节活动受限**</a:t>
            </a:r>
          </a:p>
          <a:p/>
          <a:p>
            <a:r>
              <a:t>与疼痛、滑膜炎及后期关节结构破坏有关。</a:t>
            </a:r>
          </a:p>
          <a:p/>
          <a:p>
            <a:r>
              <a:t>教师讲解：</a:t>
            </a:r>
          </a:p>
          <a:p/>
          <a:p>
            <a:r>
              <a:t>“这一页是本科生必须掌握的内容。</a:t>
            </a:r>
          </a:p>
          <a:p/>
          <a:p>
            <a:r>
              <a:t>首先是晨僵。要告诉患者，晨僵不是普通的早晨疲劳，而是关节长时间静止后出现的僵硬和活动困难。持续时间较长，提示炎性关节病的可能性。</a:t>
            </a:r>
          </a:p>
          <a:p/>
          <a:p>
            <a:r>
              <a:t>其次是对称性小关节炎。大家要记住，RA经常累及掌指关节和近端指间关节，而远端指间关节不是RA的典型主要受累部位。</a:t>
            </a:r>
          </a:p>
          <a:p/>
          <a:p>
            <a:r>
              <a:t>但不能反过来理解为不对称、晨僵时间短或者仅少关节受累就可以排除RA。”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9｜晚期RA的关节畸形</a:t>
            </a:r>
          </a:p>
          <a:p/>
          <a:p>
            <a:r>
              <a:t>PPT展示：</a:t>
            </a:r>
          </a:p>
          <a:p/>
          <a:p>
            <a:r>
              <a:t>主要关节畸形：</a:t>
            </a:r>
          </a:p>
          <a:p/>
          <a:p>
            <a:r>
              <a:t>- 尺侧偏斜：手指在掌指关节处向尺侧偏移。</a:t>
            </a:r>
          </a:p>
          <a:p>
            <a:r>
              <a:t>- 天鹅颈畸形：近端指间关节过伸、远端指间关节屈曲。</a:t>
            </a:r>
          </a:p>
          <a:p>
            <a:r>
              <a:t>- 纽扣花畸形：近端指间关节屈曲、远端指间关节过伸。</a:t>
            </a:r>
          </a:p>
          <a:p>
            <a:r>
              <a:t>- 其他关节半脱位、挛缩和功能障碍。</a:t>
            </a:r>
          </a:p>
          <a:p/>
          <a:p>
            <a:r>
              <a:t>教师讲解：</a:t>
            </a:r>
          </a:p>
          <a:p/>
          <a:p>
            <a:r>
              <a:t>“这一页要重点看图片。大家注意区分天鹅颈畸形和纽扣花畸形，两者的近端指间关节与远端指间关节屈伸方向正好相反。</a:t>
            </a:r>
          </a:p>
          <a:p/>
          <a:p>
            <a:r>
              <a:t>需要特别说明的是，这些是疾病进展后可能出现的结构性改变，并不是RA早期诊断的必要条件。我们真正希望做到的是早期识别，在患者发生畸形以前开始规范治疗。”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10｜关节外表现</a:t>
            </a:r>
          </a:p>
          <a:p/>
          <a:p>
            <a:r>
              <a:t>PPT展示：</a:t>
            </a:r>
          </a:p>
          <a:p/>
          <a:p>
            <a:r>
              <a:t>RA不仅是关节疾病，还可能出现：</a:t>
            </a:r>
          </a:p>
          <a:p/>
          <a:p>
            <a:r>
              <a:t>| 系统或器官 | 主要表现 |</a:t>
            </a:r>
          </a:p>
          <a:p>
            <a:r>
              <a:t>|---|---|</a:t>
            </a:r>
          </a:p>
          <a:p>
            <a:r>
              <a:t>| 皮肤和皮下组织 | 类风湿结节 |</a:t>
            </a:r>
          </a:p>
          <a:p>
            <a:r>
              <a:t>| 肺 | 间质性肺疾病、胸膜病变、肺结节 |</a:t>
            </a:r>
          </a:p>
          <a:p>
            <a:r>
              <a:t>| 心血管系统 | 心包炎及心血管风险增加 |</a:t>
            </a:r>
          </a:p>
          <a:p>
            <a:r>
              <a:t>| 血液系统 | 贫血、Felty综合征 |</a:t>
            </a:r>
          </a:p>
          <a:p>
            <a:r>
              <a:t>| 神经系统 | 周围神经受累、压迫性神经病变 |</a:t>
            </a:r>
          </a:p>
          <a:p>
            <a:r>
              <a:t>| 眼 | 干眼、巩膜炎等 |</a:t>
            </a:r>
          </a:p>
          <a:p>
            <a:r>
              <a:t>| 骨骼 | 骨质疏松及相关骨折风险 |</a:t>
            </a:r>
          </a:p>
          <a:p/>
          <a:p>
            <a:r>
              <a:t>教师讲解：</a:t>
            </a:r>
          </a:p>
          <a:p/>
          <a:p>
            <a:r>
              <a:t>“为什么RA会出现肺部病变？因为RA本质上是全身性免疫炎症性疾病，而非单纯的局部关节病。</a:t>
            </a:r>
          </a:p>
          <a:p/>
          <a:p>
            <a:r>
              <a:t>临床中遇到RA患者出现活动后气短、持续干咳时，不能只关注关节疼痛，还要警惕肺部受累。</a:t>
            </a:r>
          </a:p>
          <a:p/>
          <a:p>
            <a:r>
              <a:t>另外，长期炎症、功能受限以及部分药物治疗均可能影响骨健康。因此，管理RA患者需要全身性评估。”</a:t>
            </a:r>
          </a:p>
          <a:p/>
          <a:p>
            <a:r>
              <a:t>课堂提问：“一位RA患者关节症状不重，但是出现进行性呼吸困难，是否意味着RA一定不严重？”</a:t>
            </a:r>
          </a:p>
          <a:p/>
          <a:p>
            <a:r>
              <a:t>答案：不能这样判断，必须评估肺部受累及其他原因。</a:t>
            </a:r>
          </a:p>
          <a:p/>
          <a:p>
            <a:r>
              <a:t>---</a:t>
            </a:r>
          </a:p>
          <a:p/>
          <a:p>
            <a:r>
              <a:t>## 第四部分：检查、诊断及鉴别诊断（20分钟）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11｜实验室检查：炎症指标</a:t>
            </a:r>
          </a:p>
          <a:p/>
          <a:p>
            <a:r>
              <a:t>PPT展示：</a:t>
            </a:r>
          </a:p>
          <a:p/>
          <a:p>
            <a:r>
              <a:t>**ESR：** 红细胞沉降率。</a:t>
            </a:r>
          </a:p>
          <a:p/>
          <a:p>
            <a:r>
              <a:t>**CRP：** C反应蛋白。</a:t>
            </a:r>
          </a:p>
          <a:p/>
          <a:p>
            <a:r>
              <a:t>两者可用于辅助判断炎症活动情况和监测治疗反应。</a:t>
            </a:r>
          </a:p>
          <a:p/>
          <a:p>
            <a:r>
              <a:t>其他检查：</a:t>
            </a:r>
          </a:p>
          <a:p/>
          <a:p>
            <a:r>
              <a:t>- 血常规：可有慢性疾病相关性贫血、血小板增多等。</a:t>
            </a:r>
          </a:p>
          <a:p>
            <a:r>
              <a:t>- 关节液检查：活动期可表现为炎症性关节液。</a:t>
            </a:r>
          </a:p>
          <a:p>
            <a:r>
              <a:t>- 肝肾功能：有助于治疗前评估及用药安全监测。</a:t>
            </a:r>
          </a:p>
          <a:p/>
          <a:p>
            <a:r>
              <a:t>教师讲解：</a:t>
            </a:r>
          </a:p>
          <a:p/>
          <a:p>
            <a:r>
              <a:t>“ESR和CRP反映的是炎症活动，而不是RA独有的指标。感染、其他自身免疫性疾病也可能引起升高。</a:t>
            </a:r>
          </a:p>
          <a:p/>
          <a:p>
            <a:r>
              <a:t>另外，ESR或CRP正常也不能完全排除早期RA。所以这些检查必须结合临床表现进行解释。”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12｜RA自身抗体：RF与抗CCP抗体</a:t>
            </a:r>
          </a:p>
          <a:p/>
          <a:p>
            <a:r>
              <a:t>PPT展示：</a:t>
            </a:r>
          </a:p>
          <a:p/>
          <a:p>
            <a:r>
              <a:t>| 指标 | 临床意义 | 需要注意 |</a:t>
            </a:r>
          </a:p>
          <a:p>
            <a:r>
              <a:t>|---|---|---|</a:t>
            </a:r>
          </a:p>
          <a:p>
            <a:r>
              <a:t>| RF | RA常见自身抗体，可辅助诊断 | 特异性有限，其他疾病也可阳性 |</a:t>
            </a:r>
          </a:p>
          <a:p>
            <a:r>
              <a:t>| 抗CCP抗体 | 属于ACPA，诊断特异性通常较高 | 阴性不能排除RA |</a:t>
            </a:r>
          </a:p>
          <a:p>
            <a:r>
              <a:t>| ESR、CRP | 反映炎症活动 | 不能单独用于确诊 |</a:t>
            </a:r>
          </a:p>
          <a:p/>
          <a:p>
            <a:r>
              <a:t>教师讲解：</a:t>
            </a:r>
          </a:p>
          <a:p/>
          <a:p>
            <a:r>
              <a:t>“先说RF，也就是类风湿因子。它不是RA专有的抗体。其他自身免疫性疾病、部分慢性感染以及部分健康人也可能检测到RF。</a:t>
            </a:r>
          </a:p>
          <a:p/>
          <a:p>
            <a:r>
              <a:t>抗CCP抗体是RA重要的自身抗体之一，通常具有较高的特异性，对于早期RA的识别很有帮助。</a:t>
            </a:r>
          </a:p>
          <a:p/>
          <a:p>
            <a:r>
              <a:t>但是这里要让大家记住：RF阳性不等于RA，RF阴性也不等于没有RA。同样，抗CCP抗体阴性不能排除RA。”</a:t>
            </a:r>
          </a:p>
          <a:p/>
          <a:p>
            <a:r>
              <a:t>课堂提问：“患者RF阳性，但没有滑膜炎，是否可以直接诊断RA？”</a:t>
            </a:r>
          </a:p>
          <a:p/>
          <a:p>
            <a:r>
              <a:t>答案：不能。需要临床评估是否存在炎性关节病及其他病因。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13｜影像学检查</a:t>
            </a:r>
          </a:p>
          <a:p/>
          <a:p>
            <a:r>
              <a:t>PPT展示：</a:t>
            </a:r>
          </a:p>
          <a:p/>
          <a:p>
            <a:r>
              <a:t>**X线检查**</a:t>
            </a:r>
          </a:p>
          <a:p/>
          <a:p>
            <a:r>
              <a:t>早期可见关节周围骨质疏松和软组织肿胀；随疾病进展可能出现关节间隙变窄、边缘性骨侵蚀、关节畸形等。</a:t>
            </a:r>
          </a:p>
          <a:p/>
          <a:p>
            <a:r>
              <a:t>**肌肉骨骼超声**</a:t>
            </a:r>
          </a:p>
          <a:p/>
          <a:p>
            <a:r>
              <a:t>可观察滑膜增厚、关节积液、血流信号及部分骨侵蚀。</a:t>
            </a:r>
          </a:p>
          <a:p/>
          <a:p>
            <a:r>
              <a:t>**MRI**</a:t>
            </a:r>
          </a:p>
          <a:p/>
          <a:p>
            <a:r>
              <a:t>有助于发现早期滑膜炎、骨髓水肿及骨侵蚀等改变。</a:t>
            </a:r>
          </a:p>
          <a:p/>
          <a:p>
            <a:r>
              <a:t>教师讲解：</a:t>
            </a:r>
          </a:p>
          <a:p/>
          <a:p>
            <a:r>
              <a:t>“影像学的价值不仅在于观察畸形，还在于发现早期炎症和结构性损害。</a:t>
            </a:r>
          </a:p>
          <a:p/>
          <a:p>
            <a:r>
              <a:t>早期RA患者的普通X线可能没有明确骨侵蚀，这并不排除RA。对于临床高度怀疑的病例，超声和MRI可能提供额外信息，但不是所有患者都需要常规做MRI。”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14｜2010年ACR/EULAR RA分类标准</a:t>
            </a:r>
          </a:p>
          <a:p/>
          <a:p>
            <a:r>
              <a:t>首先确认适用对象：</a:t>
            </a:r>
          </a:p>
          <a:p/>
          <a:p>
            <a:r>
              <a:t>1. 至少有1个关节存在明确的临床滑膜炎（肿胀）。</a:t>
            </a:r>
          </a:p>
          <a:p>
            <a:r>
              <a:t>2. 该滑膜炎不能由其他疾病更合理地解释。</a:t>
            </a:r>
          </a:p>
          <a:p/>
          <a:p>
            <a:r>
              <a:t>随后按照四个方面评分。</a:t>
            </a:r>
          </a:p>
          <a:p/>
          <a:p>
            <a:r>
              <a:t>| 项目 | 条件 | 分值 |</a:t>
            </a:r>
          </a:p>
          <a:p>
            <a:r>
              <a:t>|---|---|---|</a:t>
            </a:r>
          </a:p>
          <a:p>
            <a:r>
              <a:t>| 关节受累 | 1个大关节 | 0 |</a:t>
            </a:r>
          </a:p>
          <a:p>
            <a:r>
              <a:t>| | 2～10个大关节 | 1 |</a:t>
            </a:r>
          </a:p>
          <a:p>
            <a:r>
              <a:t>| | 1～3个小关节 | 2 |</a:t>
            </a:r>
          </a:p>
          <a:p>
            <a:r>
              <a:t>| | 4～10个小关节 | 3 |</a:t>
            </a:r>
          </a:p>
          <a:p>
            <a:r>
              <a:t>| | ＞10个关节，至少包含1个小关节 | 5 |</a:t>
            </a:r>
          </a:p>
          <a:p>
            <a:r>
              <a:t>| 血清学 | RF和ACPA均阴性 | 0 |</a:t>
            </a:r>
          </a:p>
          <a:p>
            <a:r>
              <a:t>| | RF或ACPA低滴度阳性 | 2 |</a:t>
            </a:r>
          </a:p>
          <a:p>
            <a:r>
              <a:t>| | RF或ACPA高滴度阳性 | 3 |</a:t>
            </a:r>
          </a:p>
          <a:p>
            <a:r>
              <a:t>| 症状持续时间 | ＜6周 | 0 |</a:t>
            </a:r>
          </a:p>
          <a:p>
            <a:r>
              <a:t>| | ≥6周 | 1 |</a:t>
            </a:r>
          </a:p>
          <a:p>
            <a:r>
              <a:t>| 急性期反应物 | CRP和ESR均正常 | 0 |</a:t>
            </a:r>
          </a:p>
          <a:p>
            <a:r>
              <a:t>| | CRP或ESR异常 | 1 |</a:t>
            </a:r>
          </a:p>
          <a:p/>
          <a:p>
            <a:r>
              <a:t>**总分10分，≥6分符合RA分类标准。**</a:t>
            </a:r>
          </a:p>
          <a:p/>
          <a:p>
            <a:r>
              <a:t>注意：低滴度阳性通常为高于正常上限但不超过正常上限的3倍；高滴度阳性为超过正常上限的3倍。</a:t>
            </a:r>
          </a:p>
          <a:p/>
          <a:p>
            <a:r>
              <a:t>教师讲解：</a:t>
            </a:r>
          </a:p>
          <a:p/>
          <a:p>
            <a:r>
              <a:t>“这是考试的重点，也是临床工作中经常使用的工具。</a:t>
            </a:r>
          </a:p>
          <a:p/>
          <a:p>
            <a:r>
              <a:t>但要强调一个非常容易犯的错误：2010年ACR/EULAR标准是分类标准，不能机械地代替临床诊断。使用前首先必须确认存在临床滑膜炎，并排除其他更合理的解释。</a:t>
            </a:r>
          </a:p>
          <a:p/>
          <a:p>
            <a:r>
              <a:t>另外，评分不是把RF和抗CCP两个抗体分数直接相加，而是按血清学类别计一次分。”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14｜2010年ACR/EULAR RA分类标准</a:t>
            </a:r>
          </a:p>
          <a:p/>
          <a:p>
            <a:r>
              <a:t>首先确认适用对象：</a:t>
            </a:r>
          </a:p>
          <a:p/>
          <a:p>
            <a:r>
              <a:t>1. 至少有1个关节存在明确的临床滑膜炎（肿胀）。</a:t>
            </a:r>
          </a:p>
          <a:p>
            <a:r>
              <a:t>2. 该滑膜炎不能由其他疾病更合理地解释。</a:t>
            </a:r>
          </a:p>
          <a:p/>
          <a:p>
            <a:r>
              <a:t>随后按照四个方面评分。</a:t>
            </a:r>
          </a:p>
          <a:p/>
          <a:p>
            <a:r>
              <a:t>| 项目 | 条件 | 分值 |</a:t>
            </a:r>
          </a:p>
          <a:p>
            <a:r>
              <a:t>|---|---|---|</a:t>
            </a:r>
          </a:p>
          <a:p>
            <a:r>
              <a:t>| 关节受累 | 1个大关节 | 0 |</a:t>
            </a:r>
          </a:p>
          <a:p>
            <a:r>
              <a:t>| | 2～10个大关节 | 1 |</a:t>
            </a:r>
          </a:p>
          <a:p>
            <a:r>
              <a:t>| | 1～3个小关节 | 2 |</a:t>
            </a:r>
          </a:p>
          <a:p>
            <a:r>
              <a:t>| | 4～10个小关节 | 3 |</a:t>
            </a:r>
          </a:p>
          <a:p>
            <a:r>
              <a:t>| | ＞10个关节，至少包含1个小关节 | 5 |</a:t>
            </a:r>
          </a:p>
          <a:p>
            <a:r>
              <a:t>| 血清学 | RF和ACPA均阴性 | 0 |</a:t>
            </a:r>
          </a:p>
          <a:p>
            <a:r>
              <a:t>| | RF或ACPA低滴度阳性 | 2 |</a:t>
            </a:r>
          </a:p>
          <a:p>
            <a:r>
              <a:t>| | RF或ACPA高滴度阳性 | 3 |</a:t>
            </a:r>
          </a:p>
          <a:p>
            <a:r>
              <a:t>| 症状持续时间 | ＜6周 | 0 |</a:t>
            </a:r>
          </a:p>
          <a:p>
            <a:r>
              <a:t>| | ≥6周 | 1 |</a:t>
            </a:r>
          </a:p>
          <a:p>
            <a:r>
              <a:t>| 急性期反应物 | CRP和ESR均正常 | 0 |</a:t>
            </a:r>
          </a:p>
          <a:p>
            <a:r>
              <a:t>| | CRP或ESR异常 | 1 |</a:t>
            </a:r>
          </a:p>
          <a:p/>
          <a:p>
            <a:r>
              <a:t>**总分10分，≥6分符合RA分类标准。**</a:t>
            </a:r>
          </a:p>
          <a:p/>
          <a:p>
            <a:r>
              <a:t>注意：低滴度阳性通常为高于正常上限但不超过正常上限的3倍；高滴度阳性为超过正常上限的3倍。</a:t>
            </a:r>
          </a:p>
          <a:p/>
          <a:p>
            <a:r>
              <a:t>教师讲解：</a:t>
            </a:r>
          </a:p>
          <a:p/>
          <a:p>
            <a:r>
              <a:t>“这是考试的重点，也是临床工作中经常使用的工具。</a:t>
            </a:r>
          </a:p>
          <a:p/>
          <a:p>
            <a:r>
              <a:t>但要强调一个非常容易犯的错误：2010年ACR/EULAR标准是分类标准，不能机械地代替临床诊断。使用前首先必须确认存在临床滑膜炎，并排除其他更合理的解释。</a:t>
            </a:r>
          </a:p>
          <a:p/>
          <a:p>
            <a:r>
              <a:t>另外，评分不是把RF和抗CCP两个抗体分数直接相加，而是按血清学类别计一次分。”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15｜课堂病例评分训练</a:t>
            </a:r>
          </a:p>
          <a:p/>
          <a:p>
            <a:r>
              <a:t>回到开头的患者。</a:t>
            </a:r>
          </a:p>
          <a:p/>
          <a:p>
            <a:r>
              <a:t>进一步检查发现：</a:t>
            </a:r>
          </a:p>
          <a:p/>
          <a:p>
            <a:r>
              <a:t>- 双腕、双侧第2掌指关节、双侧第3近端指间关节均存在明确滑膜炎，共6个小关节。</a:t>
            </a:r>
          </a:p>
          <a:p>
            <a:r>
              <a:t>- 抗CCP抗体水平为实验室正常上限的4倍。</a:t>
            </a:r>
          </a:p>
          <a:p>
            <a:r>
              <a:t>- CRP升高。</a:t>
            </a:r>
          </a:p>
          <a:p>
            <a:r>
              <a:t>- 症状持续3个月。</a:t>
            </a:r>
          </a:p>
          <a:p>
            <a:r>
              <a:t>- 经病史、查体及必要检查后，暂未发现其他更合理的病因。</a:t>
            </a:r>
          </a:p>
          <a:p/>
          <a:p>
            <a:r>
              <a:t>请学生独立计算：</a:t>
            </a:r>
          </a:p>
          <a:p/>
          <a:p>
            <a:r>
              <a:t>| 评分维度 | 本例得分 |</a:t>
            </a:r>
          </a:p>
          <a:p>
            <a:r>
              <a:t>|---|---:|</a:t>
            </a:r>
          </a:p>
          <a:p>
            <a:r>
              <a:t>| 4～10个小关节受累 | 3 |</a:t>
            </a:r>
          </a:p>
          <a:p>
            <a:r>
              <a:t>| 抗CCP抗体高滴度阳性 | 3 |</a:t>
            </a:r>
          </a:p>
          <a:p>
            <a:r>
              <a:t>| 症状持续≥6周 | 1 |</a:t>
            </a:r>
          </a:p>
          <a:p>
            <a:r>
              <a:t>| CRP升高 | 1 |</a:t>
            </a:r>
          </a:p>
          <a:p>
            <a:r>
              <a:t>| **总分** | **8** |</a:t>
            </a:r>
          </a:p>
          <a:p/>
          <a:p>
            <a:r>
              <a:t>教师讲解：</a:t>
            </a:r>
          </a:p>
          <a:p/>
          <a:p>
            <a:r>
              <a:t>“患者总分为8分，达到2010年分类标准的阈值。结合典型炎性关节炎表现以及其他疾病的排除，临床上高度支持RA诊断。</a:t>
            </a:r>
          </a:p>
          <a:p/>
          <a:p>
            <a:r>
              <a:t>但实际诊疗还要完整检查病史和体征，不能简单把评分当成自动确诊。”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16｜RA的鉴别诊断</a:t>
            </a:r>
          </a:p>
          <a:p/>
          <a:p>
            <a:r>
              <a:t>PPT展示：</a:t>
            </a:r>
          </a:p>
          <a:p/>
          <a:p>
            <a:r>
              <a:t>| 疾病 | 主要鉴别线索 |</a:t>
            </a:r>
          </a:p>
          <a:p>
            <a:r>
              <a:t>|---|---|</a:t>
            </a:r>
          </a:p>
          <a:p>
            <a:r>
              <a:t>| 骨关节炎 | 机械性疼痛较突出，晨僵通常较短，可见骨性膨大 |</a:t>
            </a:r>
          </a:p>
          <a:p>
            <a:r>
              <a:t>| 系统性红斑狼疮 | 多系统表现、自身抗体谱，典型关节炎多为非侵蚀性 |</a:t>
            </a:r>
          </a:p>
          <a:p>
            <a:r>
              <a:t>| 银屑病关节炎 | 皮肤银屑病、指（趾）炎、指甲改变等 |</a:t>
            </a:r>
          </a:p>
          <a:p>
            <a:r>
              <a:t>| 脊柱关节炎 | 炎性腰背痛、骶髂关节炎、附着点炎等 |</a:t>
            </a:r>
          </a:p>
          <a:p>
            <a:r>
              <a:t>| 痛风 | 典型表现为突发急性关节炎，关节液晶体检查有价值 |</a:t>
            </a:r>
          </a:p>
          <a:p>
            <a:r>
              <a:t>| 感染性关节炎 | 尤其需警惕急性红肿热痛关节及伴发热的患者 |</a:t>
            </a:r>
          </a:p>
          <a:p/>
          <a:p>
            <a:r>
              <a:t>教师讲解：</a:t>
            </a:r>
          </a:p>
          <a:p/>
          <a:p>
            <a:r>
              <a:t>“鉴别诊断不要求大家死记所有疾病，而是建立判断框架。</a:t>
            </a:r>
          </a:p>
          <a:p/>
          <a:p>
            <a:r>
              <a:t>第一，判断炎性还是机械性关节痛。</a:t>
            </a:r>
          </a:p>
          <a:p/>
          <a:p>
            <a:r>
              <a:t>第二，观察单关节、少关节还是多关节受累。</a:t>
            </a:r>
          </a:p>
          <a:p/>
          <a:p>
            <a:r>
              <a:t>第三，看关节分布是否对称，以及是否有典型的皮肤、眼、脊柱或其他系统表现。</a:t>
            </a:r>
          </a:p>
          <a:p/>
          <a:p>
            <a:r>
              <a:t>第四，结合血清学、炎症指标、影像学和必要时的关节液分析。”</a:t>
            </a:r>
          </a:p>
          <a:p/>
          <a:p>
            <a:r>
              <a:t>**教学安全提醒：对于急性红肿热痛的关节，特别是伴发热者，必须重视感染性关节炎的可能，不能仅按RA活动处理。**</a:t>
            </a:r>
          </a:p>
          <a:p/>
          <a:p>
            <a:r>
              <a:t>---</a:t>
            </a:r>
          </a:p>
          <a:p/>
          <a:p>
            <a:r>
              <a:t>## 第五部分：病情评估及治疗（20分钟）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17｜RA的疾病活动度评估</a:t>
            </a:r>
          </a:p>
          <a:p/>
          <a:p>
            <a:r>
              <a:t>PPT展示：</a:t>
            </a:r>
          </a:p>
          <a:p/>
          <a:p>
            <a:r>
              <a:t>RA需要进行持续的疾病活动度评估。</a:t>
            </a:r>
          </a:p>
          <a:p/>
          <a:p>
            <a:r>
              <a:t>常用工具：</a:t>
            </a:r>
          </a:p>
          <a:p/>
          <a:p>
            <a:r>
              <a:t>- DAS28：28关节疾病活动度评分。</a:t>
            </a:r>
          </a:p>
          <a:p>
            <a:r>
              <a:t>- CDAI：临床疾病活动度指数。</a:t>
            </a:r>
          </a:p>
          <a:p>
            <a:r>
              <a:t>- SDAI：简化疾病活动度指数。</a:t>
            </a:r>
          </a:p>
          <a:p/>
          <a:p>
            <a:r>
              <a:t>其他评估内容包括关节功能、影像学进展、关节外受累和患者生活质量。</a:t>
            </a:r>
          </a:p>
          <a:p/>
          <a:p>
            <a:r>
              <a:t>教师讲解：</a:t>
            </a:r>
          </a:p>
          <a:p/>
          <a:p>
            <a:r>
              <a:t>“RA不是只要确定诊断就结束了。对于已经诊断的患者，我们还要判断疾病处于缓解、低疾病活动度、中度还是高度活动状态。</a:t>
            </a:r>
          </a:p>
          <a:p/>
          <a:p>
            <a:r>
              <a:t>临床常用DAS28。它综合关节压痛数、肿胀数以及炎症指标或患者总体评价等信息。</a:t>
            </a:r>
          </a:p>
          <a:p/>
          <a:p>
            <a:r>
              <a:t>疾病活动度评估的意义在于指导治疗方案调整，而不是单纯得到一个数字。”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18｜RA治疗目标与原则</a:t>
            </a:r>
          </a:p>
          <a:p/>
          <a:p>
            <a:r>
              <a:t>PPT展示：</a:t>
            </a:r>
          </a:p>
          <a:p/>
          <a:p>
            <a:r>
              <a:t>**治疗目标**</a:t>
            </a:r>
          </a:p>
          <a:p/>
          <a:p>
            <a:r>
              <a:t>1. 控制炎症和缓解临床症状。</a:t>
            </a:r>
          </a:p>
          <a:p>
            <a:r>
              <a:t>2. 达到持续临床缓解或低疾病活动度。</a:t>
            </a:r>
          </a:p>
          <a:p>
            <a:r>
              <a:t>3. 减少或阻止关节结构损害。</a:t>
            </a:r>
          </a:p>
          <a:p>
            <a:r>
              <a:t>4. 维持关节功能及生活质量。</a:t>
            </a:r>
          </a:p>
          <a:p/>
          <a:p>
            <a:r>
              <a:t>**治疗原则**</a:t>
            </a:r>
          </a:p>
          <a:p/>
          <a:p>
            <a:r>
              <a:t>- 早期诊断、早期规范治疗。</a:t>
            </a:r>
          </a:p>
          <a:p>
            <a:r>
              <a:t>- DMARDs是药物治疗的核心。</a:t>
            </a:r>
          </a:p>
          <a:p>
            <a:r>
              <a:t>- 达标治疗（Treat-to-target，T2T）。</a:t>
            </a:r>
          </a:p>
          <a:p>
            <a:r>
              <a:t>- 定期随访，根据疾病活动度和安全性调整方案。</a:t>
            </a:r>
          </a:p>
          <a:p/>
          <a:p>
            <a:r>
              <a:t>教师讲解：</a:t>
            </a:r>
          </a:p>
          <a:p/>
          <a:p>
            <a:r>
              <a:t>“RA治疗最大的特点是不能只看患者痛不痛。如果单纯通过镇痛药控制了疼痛，但关节炎症和骨侵蚀仍在继续，就没有真正实现治疗目标。</a:t>
            </a:r>
          </a:p>
          <a:p/>
          <a:p>
            <a:r>
              <a:t>治疗需要长期管理，目标是达到缓解或低疾病活动度，同时尽可能保留关节结构和功能。”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19｜NSAIDs与糖皮质激素</a:t>
            </a:r>
          </a:p>
          <a:p/>
          <a:p>
            <a:r>
              <a:t>**一、非甾体抗炎药（NSAIDs）**</a:t>
            </a:r>
          </a:p>
          <a:p/>
          <a:p>
            <a:r>
              <a:t>代表药物：布洛芬、塞来昔布等。</a:t>
            </a:r>
          </a:p>
          <a:p/>
          <a:p>
            <a:r>
              <a:t>主要作用：改善疼痛和炎症症状。</a:t>
            </a:r>
          </a:p>
          <a:p/>
          <a:p>
            <a:r>
              <a:t>局限性：不能替代DMARDs，也不能作为控制关节破坏的主要治疗手段。</a:t>
            </a:r>
          </a:p>
          <a:p/>
          <a:p>
            <a:r>
              <a:t>主要风险：胃肠道、肾脏及心血管不良反应等。</a:t>
            </a:r>
          </a:p>
          <a:p/>
          <a:p>
            <a:r>
              <a:t>**二、糖皮质激素**</a:t>
            </a:r>
          </a:p>
          <a:p/>
          <a:p>
            <a:r>
              <a:t>可快速控制炎症，在适当患者中短期应用。</a:t>
            </a:r>
          </a:p>
          <a:p/>
          <a:p>
            <a:r>
              <a:t>原则：严格评估适应证，尽量短期使用，并尽快减停。</a:t>
            </a:r>
          </a:p>
          <a:p/>
          <a:p>
            <a:r>
              <a:t>注意感染、血糖异常、骨质疏松等风险。</a:t>
            </a:r>
          </a:p>
          <a:p/>
          <a:p>
            <a:r>
              <a:t>教师讲解：</a:t>
            </a:r>
          </a:p>
          <a:p/>
          <a:p>
            <a:r>
              <a:t>“NSAIDs和糖皮质激素可以帮助患者减轻症状，但不能取代DMARDs。</a:t>
            </a:r>
          </a:p>
          <a:p/>
          <a:p>
            <a:r>
              <a:t>需要特别防止把长期使用激素等同于RA的标准维持治疗。糖皮质激素的应用应谨慎，尤其要考虑长期用药造成的不良反应。”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20｜传统合成DMARDs</a:t>
            </a:r>
          </a:p>
          <a:p/>
          <a:p>
            <a:r>
              <a:t>PPT展示：</a:t>
            </a:r>
          </a:p>
          <a:p/>
          <a:p>
            <a:r>
              <a:t>| 药物 | 主要教学要点 |</a:t>
            </a:r>
          </a:p>
          <a:p>
            <a:r>
              <a:t>|---|---|</a:t>
            </a:r>
          </a:p>
          <a:p>
            <a:r>
              <a:t>| 甲氨蝶呤（MTX） | RA治疗的核心药物之一，常作为初始治疗策略的重要组成部分 |</a:t>
            </a:r>
          </a:p>
          <a:p>
            <a:r>
              <a:t>| 来氟米特 | 常用传统合成DMARD，可作为替代或联合治疗选择 |</a:t>
            </a:r>
          </a:p>
          <a:p>
            <a:r>
              <a:t>| 柳氮磺吡啶 | 可用于部分RA患者 |</a:t>
            </a:r>
          </a:p>
          <a:p>
            <a:r>
              <a:t>| 羟氯喹 | 可用于部分病情相对较轻的患者或联合治疗 |</a:t>
            </a:r>
          </a:p>
          <a:p/>
          <a:p>
            <a:r>
              <a:t>教师讲解：</a:t>
            </a:r>
          </a:p>
          <a:p/>
          <a:p>
            <a:r>
              <a:t>“传统合成DMARDs是RA治疗的基础。大家尤其需要掌握甲氨蝶呤，它不是普通的止痛药，而是具有改变疾病进程作用的药物。</a:t>
            </a:r>
          </a:p>
          <a:p/>
          <a:p>
            <a:r>
              <a:t>甲氨蝶呤用于RA时通常按每周给药，而不是每日给药。这是非常重要的用药安全知识。</a:t>
            </a:r>
          </a:p>
          <a:p/>
          <a:p>
            <a:r>
              <a:t>临床应用还需要关注血常规、肝肾功能、妊娠相关风险以及叶酸补充等问题。具体方案由医生结合病情、禁忌证和耐受性制定。”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21｜生物制剂、靶向DMARDs及治疗管理</a:t>
            </a:r>
          </a:p>
          <a:p/>
          <a:p>
            <a:r>
              <a:t>PPT展示：</a:t>
            </a:r>
          </a:p>
          <a:p/>
          <a:p>
            <a:r>
              <a:t>**生物DMARDs**</a:t>
            </a:r>
          </a:p>
          <a:p/>
          <a:p>
            <a:r>
              <a:t>- TNF-α抑制剂：如阿达木单抗、依那西普等。</a:t>
            </a:r>
          </a:p>
          <a:p>
            <a:r>
              <a:t>- IL-6通路抑制剂：如托珠单抗。</a:t>
            </a:r>
          </a:p>
          <a:p>
            <a:r>
              <a:t>- 其他：如阿巴西普、利妥昔单抗等。</a:t>
            </a:r>
          </a:p>
          <a:p/>
          <a:p>
            <a:r>
              <a:t>**靶向合成DMARDs**</a:t>
            </a:r>
          </a:p>
          <a:p/>
          <a:p>
            <a:r>
              <a:t>- JAK抑制剂：如托法替布、巴瑞替尼、乌帕替尼等。</a:t>
            </a:r>
          </a:p>
          <a:p/>
          <a:p>
            <a:r>
              <a:t>**安全性管理**</a:t>
            </a:r>
          </a:p>
          <a:p/>
          <a:p>
            <a:r>
              <a:t>- 评估感染风险。</a:t>
            </a:r>
          </a:p>
          <a:p>
            <a:r>
              <a:t>- 用药前进行适当的结核、乙型肝炎等感染筛查。</a:t>
            </a:r>
          </a:p>
          <a:p>
            <a:r>
              <a:t>- 根据药物特点监测血常规、肝肾功能等。</a:t>
            </a:r>
          </a:p>
          <a:p>
            <a:r>
              <a:t>- 使用JAK抑制剂时重视心血管、血栓和肿瘤等风险因素。</a:t>
            </a:r>
          </a:p>
          <a:p/>
          <a:p>
            <a:r>
              <a:t>教师讲解：</a:t>
            </a:r>
          </a:p>
          <a:p/>
          <a:p>
            <a:r>
              <a:t>“RA治疗已经从传统广泛抗炎发展到针对特定免疫通路的治疗。</a:t>
            </a:r>
          </a:p>
          <a:p/>
          <a:p>
            <a:r>
              <a:t>但生物制剂和靶向药并不是越早使用、越昂贵就越好。治疗选择必须结合患者的疾病活动度、既往治疗反应、合并症和用药风险。</a:t>
            </a:r>
          </a:p>
          <a:p/>
          <a:p>
            <a:r>
              <a:t>在初始治疗效果不足时，需要重新评估疾病活动度、依从性及用药安全，决定是否调整或升级治疗。”</a:t>
            </a:r>
          </a:p>
          <a:p/>
          <a:p>
            <a:r>
              <a:t>---</a:t>
            </a:r>
          </a:p>
          <a:p/>
          <a:p>
            <a:r>
              <a:t>## 第六部分：病例回顾与课堂小结（5分钟）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### PPT 22｜回到最初的病例</a:t>
            </a:r>
          </a:p>
          <a:p/>
          <a:p>
            <a:r>
              <a:t>**问题1：患者最可能的诊断是什么？**</a:t>
            </a:r>
          </a:p>
          <a:p/>
          <a:p>
            <a:r>
              <a:t>类风湿关节炎。临床表现典型，分类评分为8分，需结合鉴别诊断作出最终临床诊断。</a:t>
            </a:r>
          </a:p>
          <a:p/>
          <a:p>
            <a:r>
              <a:t>**问题2：该患者为什么需要尽早治疗？**</a:t>
            </a:r>
          </a:p>
          <a:p/>
          <a:p>
            <a:r>
              <a:t>因为持续性滑膜炎可能造成关节软骨和骨组织损害，早期规范治疗有助于降低不可逆损伤风险。</a:t>
            </a:r>
          </a:p>
          <a:p/>
          <a:p>
            <a:r>
              <a:t>**问题3：能不能只用塞来昔布治疗？**</a:t>
            </a:r>
          </a:p>
          <a:p/>
          <a:p>
            <a:r>
              <a:t>不能仅依靠NSAIDs控制RA的疾病进展，应评估并尽早启动适当的DMARD治疗。</a:t>
            </a:r>
          </a:p>
          <a:p/>
          <a:p>
            <a:r>
              <a:t>**问题4：开始治疗后如何管理？**</a:t>
            </a:r>
          </a:p>
          <a:p/>
          <a:p>
            <a:r>
              <a:t>定期评估疾病活动度、关节功能、药物不良反应和治疗依从性，根据病情决定后续治疗调整。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教师总结语：</a:t>
            </a:r>
          </a:p>
          <a:p/>
          <a:p>
            <a:r>
              <a:t>“今天我们学习了类风湿关节炎。最后请大家记住五句话：</a:t>
            </a:r>
          </a:p>
          <a:p/>
          <a:p>
            <a:r>
              <a:t>第一，RA是一种慢性全身性自身免疫性疾病。</a:t>
            </a:r>
          </a:p>
          <a:p/>
          <a:p>
            <a:r>
              <a:t>第二，典型临床表现是以对称性小关节炎为主的炎性关节病，晨僵是重要线索。</a:t>
            </a:r>
          </a:p>
          <a:p/>
          <a:p>
            <a:r>
              <a:t>第三，RF、抗CCP抗体以及ESR、CRP都有临床价值，但任何单项检查都不能独立确定或排除RA。</a:t>
            </a:r>
          </a:p>
          <a:p/>
          <a:p>
            <a:r>
              <a:t>第四，诊断需要综合临床表现和辅助检查，并排除其他更合理的疾病，不能只依靠分类标准打分。</a:t>
            </a:r>
          </a:p>
          <a:p/>
          <a:p>
            <a:r>
              <a:t>第五，RA治疗的核心是早期、规范使用DMARDs，并进行持续的达标管理。</a:t>
            </a:r>
          </a:p>
          <a:p/>
          <a:p>
            <a:r>
              <a:t>希望同学们在临床见习时，遇到双手关节肿痛、晨僵的患者，能够主动想到RA，并形成初步诊疗思路。”</a:t>
            </a:r>
          </a:p>
          <a:p/>
          <a:p>
            <a:r>
              <a:t>---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## 课后思考题</a:t>
            </a:r>
          </a:p>
          <a:p/>
          <a:p>
            <a:r>
              <a:t>1. 类风湿关节炎的典型关节受累特点有哪些？</a:t>
            </a:r>
          </a:p>
          <a:p>
            <a:r>
              <a:t>2. RF阳性是否能够单独诊断RA？为什么？</a:t>
            </a:r>
          </a:p>
          <a:p>
            <a:r>
              <a:t>3. 2010年ACR/EULAR分类标准包括哪四个评分维度？</a:t>
            </a:r>
          </a:p>
          <a:p>
            <a:r>
              <a:t>4. RA为什么强调早期使用DMARDs？</a:t>
            </a:r>
          </a:p>
          <a:p>
            <a:r>
              <a:t>5. NSAIDs、糖皮质激素、传统合成DMARDs、生物DMARDs和靶向合成DMARDs各有什么作用及局限性？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类风湿关节炎｜内科学教学课件</dc:title>
  <dc:subject>临床医学本科四年级；主要依据用户提供的《内科学》第10版教学讲稿</dc:subject>
  <dc:creator>baoyu-slide-deck</dc:creator>
  <cp:lastModifiedBy>baoyu-slide-deck</cp:lastModifiedBy>
  <cp:revision>1</cp:revision>
  <dcterms:created xsi:type="dcterms:W3CDTF">2026-10-26T15:13:00Z</dcterms:created>
  <dcterms:modified xsi:type="dcterms:W3CDTF">2026-10-26T15:13:00Z</dcterms:modified>
</cp:coreProperties>
</file>